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6"/>
  </p:notesMasterIdLst>
  <p:handoutMasterIdLst>
    <p:handoutMasterId r:id="rId17"/>
  </p:handoutMasterIdLst>
  <p:sldIdLst>
    <p:sldId id="26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2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1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2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6AC4FB8F-ED15-48AB-97BD-17129D4E699D}" type="datetimeFigureOut">
              <a:rPr lang="en-US" altLang="zh-CN" smtClean="0"/>
              <a:pPr/>
              <a:t>4/9/26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7E6B3739-9081-478F-812E-AE7CE140632E}" type="slidenum">
              <a:rPr lang="zh-CN" smtClean="0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BBC9D437-CD83-4825-AD0D-5E7B341BC79B}" type="datetimeFigureOut">
              <a:rPr lang="zh-CN" altLang="en-US"/>
              <a:pPr/>
              <a:t>2026/4/9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560CF8BB-EBC7-4B8F-9632-A5A136FBB880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anchor="b">
            <a:normAutofit/>
          </a:bodyPr>
          <a:lstStyle>
            <a:lvl1pPr algn="l" latinLnBrk="0">
              <a:lnSpc>
                <a:spcPct val="75000"/>
              </a:lnSpc>
              <a:defRPr lang="zh-CN" sz="8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zh-CN" sz="2800"/>
            </a:lvl1pPr>
            <a:lvl2pPr marL="457200" indent="0" algn="ctr" latinLnBrk="0">
              <a:buNone/>
              <a:defRPr lang="zh-CN" sz="2000"/>
            </a:lvl2pPr>
            <a:lvl3pPr marL="914400" indent="0" algn="ctr" latinLnBrk="0">
              <a:buNone/>
              <a:defRPr lang="zh-CN" sz="1800"/>
            </a:lvl3pPr>
            <a:lvl4pPr marL="1371600" indent="0" algn="ctr" latinLnBrk="0">
              <a:buNone/>
              <a:defRPr lang="zh-CN" sz="1600"/>
            </a:lvl4pPr>
            <a:lvl5pPr marL="1828800" indent="0" algn="ctr" latinLnBrk="0">
              <a:buNone/>
              <a:defRPr lang="zh-CN" sz="1600"/>
            </a:lvl5pPr>
            <a:lvl6pPr marL="2286000" indent="0" algn="ctr" latinLnBrk="0">
              <a:buNone/>
              <a:defRPr lang="zh-CN" sz="1600"/>
            </a:lvl6pPr>
            <a:lvl7pPr marL="2743200" indent="0" algn="ctr" latinLnBrk="0">
              <a:buNone/>
              <a:defRPr lang="zh-CN" sz="1600"/>
            </a:lvl7pPr>
            <a:lvl8pPr marL="3200400" indent="0" algn="ctr" latinLnBrk="0">
              <a:buNone/>
              <a:defRPr lang="zh-CN" sz="1600"/>
            </a:lvl8pPr>
            <a:lvl9pPr marL="3657600" indent="0" algn="ctr" latinLnBrk="0">
              <a:buNone/>
              <a:defRPr lang="zh-CN" sz="1600"/>
            </a:lvl9pPr>
          </a:lstStyle>
          <a:p>
            <a:r>
              <a:rPr lang="zh-CN" altLang="en-US"/>
              <a:t>单击此处编辑母版副标题样式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anchor="b">
            <a:normAutofit/>
          </a:bodyPr>
          <a:lstStyle>
            <a:lvl1pPr latinLnBrk="0">
              <a:defRPr lang="zh-CN" sz="66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2800"/>
            </a:lvl1pPr>
            <a:lvl2pPr marL="457200" indent="0" latinLnBrk="0">
              <a:buNone/>
              <a:defRPr lang="zh-CN" sz="2000"/>
            </a:lvl2pPr>
            <a:lvl3pPr marL="914400" indent="0" latinLnBrk="0">
              <a:buNone/>
              <a:defRPr lang="zh-CN" sz="1800"/>
            </a:lvl3pPr>
            <a:lvl4pPr marL="1371600" indent="0" latinLnBrk="0">
              <a:buNone/>
              <a:defRPr lang="zh-CN" sz="1600"/>
            </a:lvl4pPr>
            <a:lvl5pPr marL="1828800" indent="0" latinLnBrk="0">
              <a:buNone/>
              <a:defRPr lang="zh-CN" sz="1600"/>
            </a:lvl5pPr>
            <a:lvl6pPr marL="2286000" indent="0" latinLnBrk="0">
              <a:buNone/>
              <a:defRPr lang="zh-CN" sz="1600"/>
            </a:lvl6pPr>
            <a:lvl7pPr marL="2743200" indent="0" latinLnBrk="0">
              <a:buNone/>
              <a:defRPr lang="zh-CN" sz="1600"/>
            </a:lvl7pPr>
            <a:lvl8pPr marL="3200400" indent="0" latinLnBrk="0">
              <a:buNone/>
              <a:defRPr lang="zh-CN" sz="1600"/>
            </a:lvl8pPr>
            <a:lvl9pPr marL="3657600" indent="0" latinLnBrk="0">
              <a:buNone/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>
            <a:normAutofit/>
          </a:bodyPr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>
            <a:normAutofit/>
          </a:bodyPr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anchor="b">
            <a:noAutofit/>
          </a:bodyPr>
          <a:lstStyle>
            <a:lvl1pPr latinLnBrk="0">
              <a:defRPr lang="zh-CN" sz="44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>
            <a:normAutofit/>
          </a:bodyPr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2000"/>
            </a:lvl6pPr>
            <a:lvl7pPr latinLnBrk="0">
              <a:defRPr lang="zh-CN" sz="2000"/>
            </a:lvl7pPr>
            <a:lvl8pPr latinLnBrk="0">
              <a:defRPr lang="zh-CN" sz="2000"/>
            </a:lvl8pPr>
            <a:lvl9pPr latinLnBrk="0">
              <a:defRPr lang="zh-CN"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CN" sz="20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Autofit/>
          </a:bodyPr>
          <a:lstStyle>
            <a:lvl1pPr latinLnBrk="0">
              <a:defRPr lang="zh-CN"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>
            <a:normAutofit/>
          </a:bodyPr>
          <a:lstStyle>
            <a:lvl1pPr marL="0" indent="0" algn="ctr" latinLnBrk="0">
              <a:buNone/>
              <a:defRPr lang="zh-CN" sz="24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CN" sz="20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631790" y="5691673"/>
            <a:ext cx="280731" cy="77884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 latinLnBrk="0">
              <a:defRPr lang="zh-CN" sz="800">
                <a:solidFill>
                  <a:schemeClr val="tx1">
                    <a:lumMod val="60000"/>
                    <a:lumOff val="40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 latinLnBrk="0">
              <a:defRPr lang="zh-CN" sz="800">
                <a:solidFill>
                  <a:schemeClr val="tx1">
                    <a:lumMod val="60000"/>
                    <a:lumOff val="40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800">
                <a:solidFill>
                  <a:schemeClr val="tx1">
                    <a:lumMod val="60000"/>
                    <a:lumOff val="40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E31375A4-56A4-47D6-9801-1991572033F7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zh-CN" sz="4400" kern="1200" cap="all" baseline="0">
          <a:solidFill>
            <a:schemeClr val="accent1"/>
          </a:solidFill>
          <a:latin typeface="+mj-lt"/>
          <a:ea typeface="Microsoft YaHei UI" panose="020B0503020204020204" pitchFamily="34" charset="-122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zh-CN" sz="24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lang="zh-CN" sz="20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CN" sz="18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zh-CN" sz="16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zh-CN" sz="16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8530" y="1337481"/>
            <a:ext cx="5775442" cy="1318633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zh-CN" dirty="0"/>
            </a:br>
            <a:br>
              <a:rPr lang="en-US" altLang="zh-CN" dirty="0"/>
            </a:br>
            <a:endParaRPr lang="zh-CN" dirty="0"/>
          </a:p>
        </p:txBody>
      </p:sp>
      <p:sp>
        <p:nvSpPr>
          <p:cNvPr id="3" name="矩形 2"/>
          <p:cNvSpPr/>
          <p:nvPr/>
        </p:nvSpPr>
        <p:spPr>
          <a:xfrm>
            <a:off x="2438399" y="3291839"/>
            <a:ext cx="7315201" cy="3046988"/>
          </a:xfrm>
          <a:prstGeom prst="rect">
            <a:avLst/>
          </a:prstGeom>
          <a:ln>
            <a:solidFill>
              <a:srgbClr val="922D4A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9600" dirty="0"/>
              <a:t>AI </a:t>
            </a:r>
            <a:r>
              <a:rPr lang="zh-CN" altLang="en-US" sz="9600" dirty="0"/>
              <a:t>在律师</a:t>
            </a:r>
            <a:endParaRPr lang="en-US" altLang="zh-CN" sz="9600" dirty="0"/>
          </a:p>
          <a:p>
            <a:pPr algn="ctr"/>
            <a:r>
              <a:rPr lang="zh-CN" altLang="en-US" sz="9600" dirty="0"/>
              <a:t>行业的应用</a:t>
            </a:r>
            <a:endParaRPr lang="zh-CN" altLang="en-US" sz="54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图片 5" descr="A法商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39499" y="174380"/>
            <a:ext cx="7453969" cy="3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在律师行业的应用：现状、前景与 OpenClaw 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赋能法律工作，提升执业效能</a:t>
            </a:r>
          </a:p>
          <a:p>
            <a:r>
              <a:rPr dirty="0"/>
              <a:t>汇报人：张大壮 (律师)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为何关注 AI？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挑战：信息爆炸，案卷与法规海量增长，人工处理效率低。</a:t>
            </a:r>
          </a:p>
          <a:p>
            <a:r>
              <a:t>需求：客户对响应速度要求极高，行业竞争加剧，急需降本增效。</a:t>
            </a:r>
          </a:p>
          <a:p>
            <a:r>
              <a:t>角色：AI 不再是简单的搜索工具，而是能够深度辅助决策的“超级助手”。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能为律师做什么？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高效检索：秒级精准定位相关案例与法条。</a:t>
            </a:r>
          </a:p>
          <a:p>
            <a:r>
              <a:t>智能审阅：自动识别合同风险条款与合规隐患。</a:t>
            </a:r>
          </a:p>
          <a:p>
            <a:r>
              <a:t>自动化辅助：快速整理文档、自动归档及初稿起草。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法律行业 AI 发展趋势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技术迭代：从单一工具转向综合智能平台。</a:t>
            </a:r>
          </a:p>
          <a:p>
            <a:r>
              <a:t>能力跃迁：从“信息搜索”进化为“深度分析与生成”。</a:t>
            </a:r>
          </a:p>
          <a:p>
            <a:r>
              <a:t>行业共识：未来法律服务是“律师专业判断 + AI 高效执行”的协同模式。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OpenClaw——您的私人智能助手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核心特性：本地化部署（保障案件数据隐私），高度可配置。</a:t>
            </a:r>
          </a:p>
          <a:p>
            <a:r>
              <a:t>多维支持：支持 PDF、Word、图像识别等多种复杂文档格式。</a:t>
            </a:r>
          </a:p>
          <a:p>
            <a:r>
              <a:t>定位：律师个人办案的高效工作流平台。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部署目标：稳定与高效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三大目标：好用、快速、上手即用。</a:t>
            </a:r>
          </a:p>
          <a:p>
            <a:r>
              <a:t>稳定性保障：配置“一键修复脚本”，确保在系统崩溃时也能在极短时间内恢复工作流。</a:t>
            </a:r>
          </a:p>
          <a:p>
            <a:r>
              <a:t>备份机制：系统状态与核心模型数据的自动化快照策略。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实战演练：律师的日常助手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文档提取：瞬间提取合同核心条款与当事人信息。</a:t>
            </a:r>
          </a:p>
          <a:p>
            <a:r>
              <a:t>证据分析：OCR 识别证据照片文字，快速提取关键证据链。</a:t>
            </a:r>
          </a:p>
          <a:p>
            <a:r>
              <a:t>逻辑梳理：输入案情，秒级生成 PPT 大纲，大幅缩短准备时间。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我的实践经验（优点）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实时性：随叫随到，成果即时产出，无需等待。</a:t>
            </a:r>
          </a:p>
          <a:p>
            <a:r>
              <a:t>多功能：涵盖案情分析、网站宣传写作、个人工作提醒、辅助小工具等。</a:t>
            </a:r>
          </a:p>
          <a:p>
            <a:r>
              <a:t>工作流升级：告别低效的“一问一答”，实现集成式高效办公。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坦诚的挑战与不足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局限性：AI 生成内容需人工核实，不能直接等同于专业判断。</a:t>
            </a:r>
          </a:p>
          <a:p>
            <a:r>
              <a:t>技术门槛：需学习提示词工程 (Prompt Engineering) 以提升交互效率。</a:t>
            </a:r>
          </a:p>
          <a:p>
            <a:r>
              <a:t>成本考量：高性能稳定服务涉及投入，系统维护需依仗备份机制。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圆桌讨论：AI 会取代律师吗？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结论：AI 永远无法完全取代律师。</a:t>
            </a:r>
          </a:p>
          <a:p>
            <a:r>
              <a:t>原因分析：1. AI 处理的是共性工作，缺乏深度思维与创造力。 2. 法律工作的核心在于对细节、情境和人性的精准洞察。</a:t>
            </a:r>
          </a:p>
          <a:p>
            <a:r>
              <a:t>律师价值：伦理决策、个性化策略制定与法律责任承担是 AI 的盲区。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律师与 AI 的协同进化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定位：AI 是工具，律师是核心决策者。</a:t>
            </a:r>
          </a:p>
          <a:p>
            <a:r>
              <a:t>行动：培养“AI 素养”，保持专业审慎。</a:t>
            </a:r>
          </a:p>
          <a:p>
            <a:r>
              <a:t>策略：利用 AI 提效，将精力专注在真正需要人的价值创造上。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拥抱变革：AI 已是法律行业的必然趋势。</a:t>
            </a:r>
          </a:p>
          <a:p>
            <a:r>
              <a:t>保持底线：坚持律师专业准则，严控数据安全。</a:t>
            </a:r>
          </a:p>
          <a:p>
            <a:r>
              <a:t>共创未来：期待与各位同行共同迈向智能法律服务的新时代。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聚成股份与法则咨询合作方案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1EF0E57-12D2-4B54-A790-AA6D167593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298</Words>
  <Application>Microsoft Macintosh PowerPoint</Application>
  <PresentationFormat>宽屏</PresentationFormat>
  <Paragraphs>50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 UI</vt:lpstr>
      <vt:lpstr>Arial</vt:lpstr>
      <vt:lpstr>Calibri</vt:lpstr>
      <vt:lpstr>聚成股份与法则咨询合作方案</vt:lpstr>
      <vt:lpstr>  </vt:lpstr>
      <vt:lpstr>AI 在律师行业的应用：现状、前景与 OpenClaw 实践</vt:lpstr>
      <vt:lpstr>为何关注 AI？</vt:lpstr>
      <vt:lpstr>AI 能为律师做什么？</vt:lpstr>
      <vt:lpstr>法律行业 AI 发展趋势</vt:lpstr>
      <vt:lpstr>OpenClaw——您的私人智能助手</vt:lpstr>
      <vt:lpstr>部署目标：稳定与高效</vt:lpstr>
      <vt:lpstr>实战演练：律师的日常助手</vt:lpstr>
      <vt:lpstr>我的实践经验（优点）</vt:lpstr>
      <vt:lpstr>坦诚的挑战与不足</vt:lpstr>
      <vt:lpstr>圆桌讨论：AI 会取代律师吗？</vt:lpstr>
      <vt:lpstr>律师与 AI 的协同进化</vt:lpstr>
      <vt:lpstr>总结与展望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2013-01-27T16:55:09Z</dcterms:created>
  <dcterms:modified xsi:type="dcterms:W3CDTF">2026-04-09T15:27:36Z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TC030310279991</vt:lpwstr>
  </property>
</Properties>
</file>